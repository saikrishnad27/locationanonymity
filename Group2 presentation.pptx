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3" r:id="rId9"/>
    <p:sldId id="266" r:id="rId10"/>
    <p:sldId id="268" r:id="rId11"/>
    <p:sldId id="267" r:id="rId12"/>
    <p:sldId id="270" r:id="rId13"/>
    <p:sldId id="269" r:id="rId14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ndara"/>
                <a:cs typeface="Candara"/>
              </a:defRPr>
            </a:lvl1pPr>
          </a:lstStyle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ndara"/>
                <a:cs typeface="Candara"/>
              </a:defRPr>
            </a:lvl1pPr>
          </a:lstStyle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ndara"/>
                <a:cs typeface="Candara"/>
              </a:defRPr>
            </a:lvl1pPr>
          </a:lstStyle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ndara"/>
                <a:cs typeface="Candara"/>
              </a:defRPr>
            </a:lvl1pPr>
          </a:lstStyle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ndara"/>
                <a:cs typeface="Candara"/>
              </a:defRPr>
            </a:lvl1pPr>
          </a:lstStyle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"/>
            <a:ext cx="4607925" cy="4679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505" y="138430"/>
            <a:ext cx="4149090" cy="55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38840" y="3238749"/>
            <a:ext cx="119379" cy="131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Candara"/>
                <a:cs typeface="Candara"/>
              </a:defRPr>
            </a:lvl1pPr>
          </a:lstStyle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j-H7U0I6Ao&amp;t=973s" TargetMode="External"/><Relationship Id="rId2" Type="http://schemas.openxmlformats.org/officeDocument/2006/relationships/hyperlink" Target="https://www.kdd.org/exploration_files/v12-1-p3-gkoulalas-sigkdd.pdf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pdp.di.unimi.it/papers/pcac07.pdf" TargetMode="External"/><Relationship Id="rId4" Type="http://schemas.openxmlformats.org/officeDocument/2006/relationships/hyperlink" Target="https://simon-oya.github.io/files/oya-2017-11-ccs-slides.pd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2850" y="43360"/>
            <a:ext cx="653137" cy="100583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1769" y="574214"/>
            <a:ext cx="4234537" cy="105670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lang="en-US" b="1" dirty="0">
                <a:latin typeface="+mj-lt"/>
                <a:cs typeface="Candara"/>
              </a:rPr>
              <a:t>Location Privacy – K anonymity &amp; Obfuscation</a:t>
            </a: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lang="en-US" sz="1400" dirty="0">
                <a:latin typeface="Candara"/>
                <a:cs typeface="Candara"/>
              </a:rPr>
              <a:t>Food Delivery system</a:t>
            </a:r>
          </a:p>
        </p:txBody>
      </p:sp>
      <p:grpSp>
        <p:nvGrpSpPr>
          <p:cNvPr id="4" name="object 4"/>
          <p:cNvGrpSpPr/>
          <p:nvPr/>
        </p:nvGrpSpPr>
        <p:grpSpPr>
          <a:xfrm flipV="1">
            <a:off x="95251" y="1764896"/>
            <a:ext cx="4157938" cy="45719"/>
            <a:chOff x="360003" y="1810616"/>
            <a:chExt cx="3893185" cy="10160"/>
          </a:xfrm>
        </p:grpSpPr>
        <p:sp>
          <p:nvSpPr>
            <p:cNvPr id="5" name="object 5"/>
            <p:cNvSpPr/>
            <p:nvPr/>
          </p:nvSpPr>
          <p:spPr>
            <a:xfrm>
              <a:off x="362534" y="1813147"/>
              <a:ext cx="3888104" cy="5080"/>
            </a:xfrm>
            <a:custGeom>
              <a:avLst/>
              <a:gdLst/>
              <a:ahLst/>
              <a:cxnLst/>
              <a:rect l="l" t="t" r="r" b="b"/>
              <a:pathLst>
                <a:path w="3888104" h="5080">
                  <a:moveTo>
                    <a:pt x="0" y="5060"/>
                  </a:moveTo>
                  <a:lnTo>
                    <a:pt x="0" y="0"/>
                  </a:lnTo>
                  <a:lnTo>
                    <a:pt x="3888051" y="0"/>
                  </a:lnTo>
                  <a:lnTo>
                    <a:pt x="38880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34" y="1813147"/>
              <a:ext cx="3888104" cy="5080"/>
            </a:xfrm>
            <a:custGeom>
              <a:avLst/>
              <a:gdLst/>
              <a:ahLst/>
              <a:cxnLst/>
              <a:rect l="l" t="t" r="r" b="b"/>
              <a:pathLst>
                <a:path w="3888104" h="5080">
                  <a:moveTo>
                    <a:pt x="0" y="5060"/>
                  </a:moveTo>
                  <a:lnTo>
                    <a:pt x="0" y="0"/>
                  </a:lnTo>
                  <a:lnTo>
                    <a:pt x="3888051" y="0"/>
                  </a:lnTo>
                  <a:lnTo>
                    <a:pt x="3888051" y="5060"/>
                  </a:lnTo>
                  <a:lnTo>
                    <a:pt x="0" y="5060"/>
                  </a:lnTo>
                  <a:close/>
                </a:path>
              </a:pathLst>
            </a:custGeom>
            <a:ln w="5060">
              <a:solidFill>
                <a:srgbClr val="EB8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1769" y="1882775"/>
            <a:ext cx="2872156" cy="8765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5" dirty="0">
                <a:solidFill>
                  <a:srgbClr val="22373A"/>
                </a:solidFill>
                <a:latin typeface="+mj-lt"/>
                <a:cs typeface="Candara"/>
              </a:rPr>
              <a:t>Sai Karthik </a:t>
            </a:r>
            <a:r>
              <a:rPr lang="en-US" sz="1100" spc="-5" dirty="0" err="1">
                <a:solidFill>
                  <a:srgbClr val="22373A"/>
                </a:solidFill>
                <a:latin typeface="+mj-lt"/>
                <a:cs typeface="Candara"/>
              </a:rPr>
              <a:t>dattu</a:t>
            </a:r>
            <a:endParaRPr lang="en-US" sz="1100" spc="-5" dirty="0">
              <a:solidFill>
                <a:srgbClr val="22373A"/>
              </a:solidFill>
              <a:latin typeface="+mj-lt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5" dirty="0">
                <a:solidFill>
                  <a:srgbClr val="22373A"/>
                </a:solidFill>
                <a:latin typeface="+mj-lt"/>
                <a:cs typeface="Candara"/>
              </a:rPr>
              <a:t>Sai Krishna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5" dirty="0">
                <a:solidFill>
                  <a:srgbClr val="22373A"/>
                </a:solidFill>
                <a:latin typeface="+mj-lt"/>
                <a:cs typeface="Candara"/>
              </a:rPr>
              <a:t>Sai Sandeep</a:t>
            </a:r>
            <a:endParaRPr sz="1100" dirty="0">
              <a:latin typeface="+mj-lt"/>
              <a:cs typeface="Candar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 dirty="0">
              <a:latin typeface="+mj-lt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22373A"/>
                </a:solidFill>
                <a:latin typeface="+mj-lt"/>
                <a:cs typeface="Candara"/>
              </a:rPr>
              <a:t>University</a:t>
            </a:r>
            <a:r>
              <a:rPr sz="1000" dirty="0">
                <a:solidFill>
                  <a:srgbClr val="22373A"/>
                </a:solidFill>
                <a:latin typeface="+mj-lt"/>
                <a:cs typeface="Candara"/>
              </a:rPr>
              <a:t> </a:t>
            </a:r>
            <a:r>
              <a:rPr sz="1000" spc="-5" dirty="0">
                <a:solidFill>
                  <a:srgbClr val="22373A"/>
                </a:solidFill>
                <a:latin typeface="+mj-lt"/>
                <a:cs typeface="Candara"/>
              </a:rPr>
              <a:t>of</a:t>
            </a:r>
            <a:r>
              <a:rPr sz="1000" dirty="0">
                <a:solidFill>
                  <a:srgbClr val="22373A"/>
                </a:solidFill>
                <a:latin typeface="+mj-lt"/>
                <a:cs typeface="Candara"/>
              </a:rPr>
              <a:t> </a:t>
            </a:r>
            <a:r>
              <a:rPr sz="1000" spc="-5" dirty="0">
                <a:solidFill>
                  <a:srgbClr val="22373A"/>
                </a:solidFill>
                <a:latin typeface="+mj-lt"/>
                <a:cs typeface="Candara"/>
              </a:rPr>
              <a:t>Maryland</a:t>
            </a:r>
            <a:r>
              <a:rPr sz="1000" spc="5" dirty="0">
                <a:solidFill>
                  <a:srgbClr val="22373A"/>
                </a:solidFill>
                <a:latin typeface="+mj-lt"/>
                <a:cs typeface="Candara"/>
              </a:rPr>
              <a:t> </a:t>
            </a:r>
            <a:r>
              <a:rPr sz="1000" spc="-5" dirty="0">
                <a:solidFill>
                  <a:srgbClr val="22373A"/>
                </a:solidFill>
                <a:latin typeface="+mj-lt"/>
                <a:cs typeface="Candara"/>
              </a:rPr>
              <a:t>Baltimore</a:t>
            </a:r>
            <a:r>
              <a:rPr sz="1000" dirty="0">
                <a:solidFill>
                  <a:srgbClr val="22373A"/>
                </a:solidFill>
                <a:latin typeface="+mj-lt"/>
                <a:cs typeface="Candara"/>
              </a:rPr>
              <a:t> </a:t>
            </a:r>
            <a:r>
              <a:rPr sz="1000" spc="-5" dirty="0">
                <a:solidFill>
                  <a:srgbClr val="22373A"/>
                </a:solidFill>
                <a:latin typeface="+mj-lt"/>
                <a:cs typeface="Candara"/>
              </a:rPr>
              <a:t>County</a:t>
            </a:r>
            <a:endParaRPr sz="1000" dirty="0">
              <a:latin typeface="+mj-lt"/>
              <a:cs typeface="Candar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10" y="44650"/>
            <a:ext cx="287984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dirty="0">
                <a:solidFill>
                  <a:srgbClr val="FFFFFF"/>
                </a:solidFill>
                <a:latin typeface="Candara"/>
                <a:cs typeface="Candara"/>
              </a:rPr>
              <a:t>Table</a:t>
            </a:r>
            <a:r>
              <a:rPr sz="2400" b="1" spc="-2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Candara"/>
                <a:cs typeface="Candara"/>
              </a:rPr>
              <a:t>of</a:t>
            </a:r>
            <a:r>
              <a:rPr sz="2400" b="1" spc="-2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2400" b="1" spc="15" dirty="0">
                <a:solidFill>
                  <a:srgbClr val="FFFFFF"/>
                </a:solidFill>
                <a:latin typeface="Candara"/>
                <a:cs typeface="Candara"/>
              </a:rPr>
              <a:t>contents</a:t>
            </a:r>
            <a:endParaRPr sz="2400" dirty="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74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23850" y="892175"/>
            <a:ext cx="3733800" cy="1397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  <a:t>1. Motivation </a:t>
            </a:r>
            <a:b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</a:br>
            <a: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  <a:t>2. Methodology</a:t>
            </a:r>
            <a:b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</a:br>
            <a: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  <a:t>3. Demo </a:t>
            </a:r>
            <a:b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</a:br>
            <a: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  <a:t>4. Results</a:t>
            </a:r>
            <a:b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</a:br>
            <a:r>
              <a:rPr lang="en-US" spc="-5" dirty="0">
                <a:solidFill>
                  <a:srgbClr val="22373A"/>
                </a:solidFill>
                <a:cs typeface="Times New Roman" panose="02020603050405020304" pitchFamily="18" charset="0"/>
              </a:rPr>
              <a:t>5. Future Enhancements</a:t>
            </a:r>
            <a:endParaRPr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10" y="44650"/>
            <a:ext cx="227024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spc="10" dirty="0">
                <a:solidFill>
                  <a:srgbClr val="FFFFFF"/>
                </a:solidFill>
                <a:latin typeface="Candara"/>
                <a:cs typeface="Candara"/>
              </a:rPr>
              <a:t>Motivation</a:t>
            </a:r>
            <a:endParaRPr sz="1400" dirty="0">
              <a:latin typeface="Candara"/>
              <a:cs typeface="Candara"/>
            </a:endParaRPr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84AE937-694E-4011-96D5-7BF057C95B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5862"/>
            <a:ext cx="1847850" cy="781222"/>
          </a:xfrm>
          <a:prstGeom prst="rect">
            <a:avLst/>
          </a:prstGeom>
        </p:spPr>
      </p:pic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ACA54D6-D1E5-4AD0-82D5-EB9A1074F4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746042"/>
            <a:ext cx="2057400" cy="824763"/>
          </a:xfrm>
          <a:prstGeom prst="rect">
            <a:avLst/>
          </a:prstGeom>
        </p:spPr>
      </p:pic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A6A3B61F-A177-46E7-B2C4-6B06B42202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1946"/>
            <a:ext cx="1924050" cy="836727"/>
          </a:xfrm>
          <a:prstGeom prst="rect">
            <a:avLst/>
          </a:prstGeom>
        </p:spPr>
      </p:pic>
      <p:pic>
        <p:nvPicPr>
          <p:cNvPr id="10" name="Picture 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17DC6DC-EA33-439F-813D-19BB5B002A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1730375"/>
            <a:ext cx="2601114" cy="972655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7ADBB98E-8665-4DF0-925F-7E1BEEAAE4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9563"/>
            <a:ext cx="1924050" cy="896535"/>
          </a:xfrm>
          <a:prstGeom prst="rect">
            <a:avLst/>
          </a:prstGeom>
        </p:spPr>
      </p:pic>
      <p:pic>
        <p:nvPicPr>
          <p:cNvPr id="14" name="Picture 13" descr="A picture containing text, indoor, screenshot&#10;&#10;Description automatically generated">
            <a:extLst>
              <a:ext uri="{FF2B5EF4-FFF2-40B4-BE49-F238E27FC236}">
                <a16:creationId xmlns:a16="http://schemas.microsoft.com/office/drawing/2014/main" id="{B0EB103C-A8BC-40F4-A650-2F032EDC9A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14" y="2590663"/>
            <a:ext cx="2533650" cy="8700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DEDFF9-EF2C-42BB-A36F-90A074299E8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777" y="1335175"/>
            <a:ext cx="1572073" cy="6553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8CE008-B294-4793-9A12-143A1FE779C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49" y="2353372"/>
            <a:ext cx="1695451" cy="34965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21336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spc="10" dirty="0">
                <a:solidFill>
                  <a:srgbClr val="FFFFFF"/>
                </a:solidFill>
                <a:latin typeface="Candara"/>
                <a:cs typeface="Candara"/>
              </a:rPr>
              <a:t>Methodology</a:t>
            </a:r>
            <a:r>
              <a:rPr lang="en-US" sz="1400" b="1" spc="10" dirty="0">
                <a:solidFill>
                  <a:srgbClr val="FFFFFF"/>
                </a:solidFill>
                <a:latin typeface="Candara"/>
                <a:cs typeface="Candara"/>
              </a:rPr>
              <a:t>  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3575"/>
            <a:ext cx="39624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K- anonymity </a:t>
            </a:r>
            <a:br>
              <a:rPr lang="en-US" dirty="0"/>
            </a:br>
            <a:r>
              <a:rPr lang="en-US" dirty="0"/>
              <a:t>a) Data dependent Cloaking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Distance-based cloaking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K- bucket cloaking</a:t>
            </a:r>
          </a:p>
          <a:p>
            <a:r>
              <a:rPr lang="en-US" dirty="0"/>
              <a:t>b) Space Based Cloaking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Grid cloaking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Region cloaking</a:t>
            </a:r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4711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19050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spc="10" dirty="0">
                <a:solidFill>
                  <a:srgbClr val="FFFFFF"/>
                </a:solidFill>
                <a:latin typeface="Candara"/>
                <a:cs typeface="Candara"/>
              </a:rPr>
              <a:t>Methodology</a:t>
            </a:r>
            <a:r>
              <a:rPr lang="en-US" b="1" spc="1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lang="en-US" sz="1400" b="1" spc="1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3575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dependent Cloaking </a:t>
            </a:r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Diagram, shape&#10;&#10;Description automatically generated">
            <a:extLst>
              <a:ext uri="{FF2B5EF4-FFF2-40B4-BE49-F238E27FC236}">
                <a16:creationId xmlns:a16="http://schemas.microsoft.com/office/drawing/2014/main" id="{52138454-63FD-40C2-9099-5E2933765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36" y="1273175"/>
            <a:ext cx="4019714" cy="196613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D6EBEB0-E7D6-49F3-BAB5-898498EFF51D}"/>
              </a:ext>
            </a:extLst>
          </p:cNvPr>
          <p:cNvSpPr/>
          <p:nvPr/>
        </p:nvSpPr>
        <p:spPr>
          <a:xfrm>
            <a:off x="3067050" y="249237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C73F08-2610-4E4A-B82B-42A60BA80C93}"/>
              </a:ext>
            </a:extLst>
          </p:cNvPr>
          <p:cNvSpPr/>
          <p:nvPr/>
        </p:nvSpPr>
        <p:spPr>
          <a:xfrm>
            <a:off x="3067050" y="1806575"/>
            <a:ext cx="76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AEC457-A165-45C2-B01C-8EE9BE435BFE}"/>
              </a:ext>
            </a:extLst>
          </p:cNvPr>
          <p:cNvSpPr/>
          <p:nvPr/>
        </p:nvSpPr>
        <p:spPr>
          <a:xfrm>
            <a:off x="3829050" y="1852294"/>
            <a:ext cx="76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728E8B-75D6-4F57-A162-F8460E6AD8CF}"/>
              </a:ext>
            </a:extLst>
          </p:cNvPr>
          <p:cNvSpPr/>
          <p:nvPr/>
        </p:nvSpPr>
        <p:spPr>
          <a:xfrm>
            <a:off x="3752850" y="2416175"/>
            <a:ext cx="7620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3863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23622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spc="10" dirty="0">
                <a:solidFill>
                  <a:srgbClr val="FFFFFF"/>
                </a:solidFill>
                <a:latin typeface="Candara"/>
                <a:cs typeface="Candara"/>
              </a:rPr>
              <a:t>Methodology</a:t>
            </a:r>
            <a:r>
              <a:rPr lang="en-US" sz="1400" b="1" spc="10" dirty="0">
                <a:solidFill>
                  <a:srgbClr val="FFFFFF"/>
                </a:solidFill>
                <a:latin typeface="Candara"/>
                <a:cs typeface="Candara"/>
              </a:rPr>
              <a:t>  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3575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Diagram, application&#10;&#10;Description automatically generated">
            <a:extLst>
              <a:ext uri="{FF2B5EF4-FFF2-40B4-BE49-F238E27FC236}">
                <a16:creationId xmlns:a16="http://schemas.microsoft.com/office/drawing/2014/main" id="{130F56B6-630C-4108-918B-EC9DDEDD92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401"/>
            <a:ext cx="4610100" cy="2583774"/>
          </a:xfrm>
          <a:prstGeom prst="rect">
            <a:avLst/>
          </a:prstGeom>
        </p:spPr>
      </p:pic>
      <p:pic>
        <p:nvPicPr>
          <p:cNvPr id="7" name="Picture 6" descr="Diagram, application&#10;&#10;Description automatically generated">
            <a:extLst>
              <a:ext uri="{FF2B5EF4-FFF2-40B4-BE49-F238E27FC236}">
                <a16:creationId xmlns:a16="http://schemas.microsoft.com/office/drawing/2014/main" id="{961744F1-1F47-4C7F-827A-4BAD653EB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175"/>
            <a:ext cx="4610100" cy="294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70513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24384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spc="10" dirty="0">
                <a:solidFill>
                  <a:srgbClr val="FFFFFF"/>
                </a:solidFill>
                <a:latin typeface="Candara"/>
                <a:cs typeface="Candara"/>
              </a:rPr>
              <a:t>Methodology </a:t>
            </a:r>
            <a:r>
              <a:rPr lang="en-US" sz="1400" b="1" spc="1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endParaRPr sz="1400" dirty="0">
              <a:latin typeface="Candara"/>
              <a:cs typeface="Candara"/>
            </a:endParaRPr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59C434DB-B554-4DFA-9587-4CEB87FD47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2489"/>
            <a:ext cx="4610100" cy="24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821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22098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10" dirty="0">
                <a:solidFill>
                  <a:srgbClr val="FFFFFF"/>
                </a:solidFill>
                <a:latin typeface="Candara"/>
                <a:cs typeface="Candara"/>
              </a:rPr>
              <a:t>  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3575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FF973-4F5C-4419-8491-96343EED4EE3}"/>
              </a:ext>
            </a:extLst>
          </p:cNvPr>
          <p:cNvSpPr txBox="1"/>
          <p:nvPr/>
        </p:nvSpPr>
        <p:spPr>
          <a:xfrm>
            <a:off x="323850" y="892175"/>
            <a:ext cx="373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hlinkClick r:id="rId2"/>
              </a:rPr>
              <a:t>DEMO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02630901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19812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spc="10" dirty="0">
                <a:solidFill>
                  <a:srgbClr val="FFFFFF"/>
                </a:solidFill>
                <a:latin typeface="Candara"/>
                <a:cs typeface="Candara"/>
              </a:rPr>
              <a:t>Results</a:t>
            </a:r>
            <a:r>
              <a:rPr lang="en-US" sz="1400" b="1" spc="10" dirty="0">
                <a:solidFill>
                  <a:srgbClr val="FFFFFF"/>
                </a:solidFill>
                <a:latin typeface="Candara"/>
                <a:cs typeface="Candara"/>
              </a:rPr>
              <a:t>  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3575"/>
            <a:ext cx="396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1. Density of houses </a:t>
            </a:r>
          </a:p>
          <a:p>
            <a:r>
              <a:rPr lang="en-US" dirty="0"/>
              <a:t>If more: Provides more anonymity and utility too.  </a:t>
            </a:r>
          </a:p>
          <a:p>
            <a:r>
              <a:rPr lang="en-US" dirty="0"/>
              <a:t>If less: Limited anonymity and utility. </a:t>
            </a:r>
          </a:p>
          <a:p>
            <a:r>
              <a:rPr lang="en-US" dirty="0"/>
              <a:t>2. It all depends upon the user.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82898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31242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spc="10" dirty="0">
                <a:solidFill>
                  <a:srgbClr val="FFFFFF"/>
                </a:solidFill>
                <a:latin typeface="Candara"/>
                <a:cs typeface="Candara"/>
              </a:rPr>
              <a:t>Technologies Used</a:t>
            </a:r>
            <a:r>
              <a:rPr lang="en-US" sz="1400" b="1" spc="10" dirty="0">
                <a:solidFill>
                  <a:srgbClr val="FFFFFF"/>
                </a:solidFill>
                <a:latin typeface="Candara"/>
                <a:cs typeface="Candara"/>
              </a:rPr>
              <a:t>  </a:t>
            </a:r>
            <a:endParaRPr sz="14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3575"/>
            <a:ext cx="396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ReactJS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Maps SDK by Google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Google Cloud Platform (GCP)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NodeJS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Material UI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Bootstrap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7835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3581400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600" b="1" spc="10" dirty="0">
                <a:solidFill>
                  <a:srgbClr val="FFFFFF"/>
                </a:solidFill>
                <a:latin typeface="Candara"/>
                <a:cs typeface="Candara"/>
              </a:rPr>
              <a:t>Future Enhancements</a:t>
            </a:r>
            <a:endParaRPr sz="16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8627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certain value of k would improve the amount of privacy. It will, however, certainly entail some additional costs. As a result, in our future work, we will conduct study on the determination of k.</a:t>
            </a:r>
          </a:p>
        </p:txBody>
      </p:sp>
    </p:spTree>
    <p:extLst>
      <p:ext uri="{BB962C8B-B14F-4D97-AF65-F5344CB8AC3E}">
        <p14:creationId xmlns:p14="http://schemas.microsoft.com/office/powerpoint/2010/main" val="757790558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44650"/>
            <a:ext cx="3581400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600" b="1" spc="10" dirty="0">
                <a:solidFill>
                  <a:srgbClr val="FFFFFF"/>
                </a:solidFill>
                <a:latin typeface="Candara"/>
                <a:cs typeface="Candara"/>
              </a:rPr>
              <a:t>References</a:t>
            </a:r>
            <a:endParaRPr sz="1600" dirty="0">
              <a:latin typeface="Candara"/>
              <a:cs typeface="Candar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171450" y="668627"/>
            <a:ext cx="39624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2"/>
              </a:rPr>
              <a:t>https://www.kdd.org/exploration_files/v12-1-p3-gkoulalas-sigkdd.pdf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https://www.youtube.com/watch?v=-j-H7U0I6Ao&amp;t=973s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4"/>
              </a:rPr>
              <a:t>https://simon-oya.github.io/files/oya-2017-11-ccs-slides.pdf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5"/>
              </a:rPr>
              <a:t>https://spdp.di.unimi.it/papers/pcac07.pdf</a:t>
            </a:r>
            <a:r>
              <a:rPr lang="en-US" sz="1200" dirty="0"/>
              <a:t>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52972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627C37-EFEA-4C19-9CD2-62277ABD2437}"/>
              </a:ext>
            </a:extLst>
          </p:cNvPr>
          <p:cNvSpPr txBox="1"/>
          <p:nvPr/>
        </p:nvSpPr>
        <p:spPr>
          <a:xfrm>
            <a:off x="323850" y="1349375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9414122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</TotalTime>
  <Words>247</Words>
  <Application>Microsoft Office PowerPoint</Application>
  <PresentationFormat>Custom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Sai Sandeep Ravuri</cp:lastModifiedBy>
  <cp:revision>35</cp:revision>
  <dcterms:created xsi:type="dcterms:W3CDTF">2022-05-09T18:54:25Z</dcterms:created>
  <dcterms:modified xsi:type="dcterms:W3CDTF">2022-05-11T19:25:45Z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2019-05-06T00:00:00Z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2022-05-09T00:00:00Z</vt:filetime>
  </property>
</Properties>
</file>